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sldIdLst>
    <p:sldId id="297" r:id="rId2"/>
    <p:sldId id="298" r:id="rId3"/>
  </p:sldIdLst>
  <p:sldSz cx="9144000" cy="6858000" type="screen4x3"/>
  <p:notesSz cx="6883400" cy="10004425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Arial" charset="0"/>
        <a:ea typeface="+mn-ea"/>
        <a:cs typeface="Arial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Arial" charset="0"/>
        <a:ea typeface="+mn-ea"/>
        <a:cs typeface="Arial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Arial" charset="0"/>
        <a:ea typeface="+mn-ea"/>
        <a:cs typeface="Arial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Arial" charset="0"/>
        <a:ea typeface="+mn-ea"/>
        <a:cs typeface="Arial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426" y="-19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/>
          <p:cNvSpPr>
            <a:spLocks noChangeArrowheads="1"/>
          </p:cNvSpPr>
          <p:nvPr/>
        </p:nvSpPr>
        <p:spPr bwMode="auto">
          <a:xfrm>
            <a:off x="0" y="0"/>
            <a:ext cx="6883400" cy="100044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360" cap="sq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0" name="AutoShape 2"/>
          <p:cNvSpPr>
            <a:spLocks noChangeArrowheads="1"/>
          </p:cNvSpPr>
          <p:nvPr/>
        </p:nvSpPr>
        <p:spPr bwMode="auto">
          <a:xfrm>
            <a:off x="0" y="0"/>
            <a:ext cx="6883400" cy="100044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1" name="AutoShape 3"/>
          <p:cNvSpPr>
            <a:spLocks noChangeArrowheads="1"/>
          </p:cNvSpPr>
          <p:nvPr/>
        </p:nvSpPr>
        <p:spPr bwMode="auto">
          <a:xfrm>
            <a:off x="0" y="0"/>
            <a:ext cx="6883400" cy="100044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2" name="AutoShape 4"/>
          <p:cNvSpPr>
            <a:spLocks noChangeArrowheads="1"/>
          </p:cNvSpPr>
          <p:nvPr/>
        </p:nvSpPr>
        <p:spPr bwMode="auto">
          <a:xfrm>
            <a:off x="0" y="0"/>
            <a:ext cx="6883400" cy="100044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3" name="AutoShape 5"/>
          <p:cNvSpPr>
            <a:spLocks noChangeArrowheads="1"/>
          </p:cNvSpPr>
          <p:nvPr/>
        </p:nvSpPr>
        <p:spPr bwMode="auto">
          <a:xfrm>
            <a:off x="0" y="0"/>
            <a:ext cx="6883400" cy="100044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0" y="0"/>
            <a:ext cx="2982913" cy="50006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3897313" y="0"/>
            <a:ext cx="2974975" cy="4921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6480" tIns="48240" rIns="96480" bIns="4824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300">
                <a:solidFill>
                  <a:srgbClr val="000000"/>
                </a:solidFill>
                <a:latin typeface="Calibri" pitchFamily="32" charset="0"/>
              </a:defRPr>
            </a:lvl1pPr>
          </a:lstStyle>
          <a:p>
            <a:endParaRPr lang="fr-FR"/>
          </a:p>
        </p:txBody>
      </p:sp>
      <p:sp>
        <p:nvSpPr>
          <p:cNvPr id="2056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42975" y="750888"/>
            <a:ext cx="4989513" cy="3741737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057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688975" y="4751388"/>
            <a:ext cx="5497513" cy="44926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6480" tIns="48240" rIns="96480" bIns="48240" numCol="1" anchor="t" anchorCtr="0" compatLnSpc="1">
            <a:prstTxWarp prst="textNoShape">
              <a:avLst/>
            </a:prstTxWarp>
          </a:bodyPr>
          <a:lstStyle/>
          <a:p>
            <a:pPr lvl="0"/>
            <a:endParaRPr lang="fr-FR" smtClean="0"/>
          </a:p>
        </p:txBody>
      </p:sp>
      <p:sp>
        <p:nvSpPr>
          <p:cNvPr id="2058" name="Text Box 10"/>
          <p:cNvSpPr txBox="1">
            <a:spLocks noChangeArrowheads="1"/>
          </p:cNvSpPr>
          <p:nvPr/>
        </p:nvSpPr>
        <p:spPr bwMode="auto">
          <a:xfrm>
            <a:off x="0" y="9501188"/>
            <a:ext cx="2982913" cy="50006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9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3897313" y="9501188"/>
            <a:ext cx="2974975" cy="4921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6480" tIns="48240" rIns="96480" bIns="4824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300">
                <a:solidFill>
                  <a:srgbClr val="000000"/>
                </a:solidFill>
                <a:latin typeface="Calibri" pitchFamily="32" charset="0"/>
              </a:defRPr>
            </a:lvl1pPr>
          </a:lstStyle>
          <a:p>
            <a:fld id="{A96DEEE4-CCAF-4256-A7D8-02FA344D10EC}" type="slidenum">
              <a:rPr lang="fr-FR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1198171-1014-453E-98A0-F97E56390BB1}" type="slidenum">
              <a:rPr lang="fr-FR"/>
              <a:pPr/>
              <a:t>1</a:t>
            </a:fld>
            <a:endParaRPr lang="fr-FR"/>
          </a:p>
        </p:txBody>
      </p:sp>
      <p:sp>
        <p:nvSpPr>
          <p:cNvPr id="4505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42975" y="750888"/>
            <a:ext cx="4997450" cy="37496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8975" y="4751388"/>
            <a:ext cx="5505450" cy="4500562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3897313" y="9501188"/>
            <a:ext cx="2982912" cy="50006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6480" tIns="48240" rIns="96480" bIns="4824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010C34F-89F5-429E-A41C-9A91A0CAAE12}" type="slidenum">
              <a:rPr lang="fr-FR" sz="1300">
                <a:solidFill>
                  <a:srgbClr val="000000"/>
                </a:solidFill>
                <a:latin typeface="Calibri" pitchFamily="32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</a:t>
            </a:fld>
            <a:endParaRPr lang="fr-FR" sz="1300">
              <a:solidFill>
                <a:srgbClr val="000000"/>
              </a:solidFill>
              <a:latin typeface="Calibri" pitchFamily="32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1198171-1014-453E-98A0-F97E56390BB1}" type="slidenum">
              <a:rPr lang="fr-FR"/>
              <a:pPr/>
              <a:t>2</a:t>
            </a:fld>
            <a:endParaRPr lang="fr-FR"/>
          </a:p>
        </p:txBody>
      </p:sp>
      <p:sp>
        <p:nvSpPr>
          <p:cNvPr id="4505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42975" y="750888"/>
            <a:ext cx="4997450" cy="37496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8975" y="4751388"/>
            <a:ext cx="5505450" cy="4500562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3897313" y="9501188"/>
            <a:ext cx="2982912" cy="50006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6480" tIns="48240" rIns="96480" bIns="4824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010C34F-89F5-429E-A41C-9A91A0CAAE12}" type="slidenum">
              <a:rPr lang="fr-FR" sz="1300">
                <a:solidFill>
                  <a:srgbClr val="000000"/>
                </a:solidFill>
                <a:latin typeface="Calibri" pitchFamily="32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</a:t>
            </a:fld>
            <a:endParaRPr lang="fr-FR" sz="1300">
              <a:solidFill>
                <a:srgbClr val="000000"/>
              </a:solidFill>
              <a:latin typeface="Calibri" pitchFamily="32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013A9CA-B4CA-4DBA-A88A-AC3C8E6A0BAE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AC42CB5C-086F-40EC-9D73-4E8F63228A0C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C1E8ACA-4098-4A9C-8124-D82D009A5F85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3838" cy="4518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3438" y="1600200"/>
            <a:ext cx="4035425" cy="4518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940583DC-6C31-4687-A6AA-BA01BC992A68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8E576941-1C04-42C5-AD04-5185D0FA09F7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5CCDB981-B321-4E16-9564-7C00D5299655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F575942C-D8FE-4C1D-8B5B-CF702966E9DF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94091B08-573A-4D07-84A5-4BEADDAB2694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29D2704D-73D4-412C-BAE4-C34489A2EC0A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33F46E3F-66B6-463B-8F05-801DF0B63D4D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4638" y="274638"/>
            <a:ext cx="2054225" cy="5843587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5038" cy="5843587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41CEA4B-D46F-42AB-B812-1D26A8C789A9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1663" cy="113506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1663" cy="45180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6350"/>
            <a:ext cx="2125663" cy="35718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endParaRPr lang="fr-FR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6350"/>
            <a:ext cx="2125663" cy="35718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fld id="{5D569C45-8014-4182-8C49-E036E00CB573}" type="slidenum">
              <a:rPr lang="fr-FR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Microsoft YaHei" charset="0"/>
          <a:cs typeface="Microsoft YaHei" charset="0"/>
        </a:defRPr>
      </a:lvl2pPr>
      <a:lvl3pPr marL="1143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Microsoft YaHei" charset="0"/>
          <a:cs typeface="Microsoft YaHei" charset="0"/>
        </a:defRPr>
      </a:lvl3pPr>
      <a:lvl4pPr marL="1600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Microsoft YaHei" charset="0"/>
          <a:cs typeface="Microsoft YaHei" charset="0"/>
        </a:defRPr>
      </a:lvl4pPr>
      <a:lvl5pPr marL="20574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Microsoft YaHei" charset="0"/>
          <a:cs typeface="Microsoft YaHei" charset="0"/>
        </a:defRPr>
      </a:lvl5pPr>
      <a:lvl6pPr marL="25146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Microsoft YaHei" charset="0"/>
          <a:cs typeface="Microsoft YaHei" charset="0"/>
        </a:defRPr>
      </a:lvl6pPr>
      <a:lvl7pPr marL="29718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Microsoft YaHei" charset="0"/>
          <a:cs typeface="Microsoft YaHei" charset="0"/>
        </a:defRPr>
      </a:lvl7pPr>
      <a:lvl8pPr marL="3429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Microsoft YaHei" charset="0"/>
          <a:cs typeface="Microsoft YaHei" charset="0"/>
        </a:defRPr>
      </a:lvl8pPr>
      <a:lvl9pPr marL="3886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Microsoft YaHei" charset="0"/>
          <a:cs typeface="Microsoft YaHei" charset="0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5" Type="http://schemas.openxmlformats.org/officeDocument/2006/relationships/image" Target="../media/image13.jpe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 descr="j031434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18173" y="2857480"/>
            <a:ext cx="1090331" cy="2011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" name="AutoShape 12"/>
          <p:cNvSpPr>
            <a:spLocks noChangeArrowheads="1"/>
          </p:cNvSpPr>
          <p:nvPr/>
        </p:nvSpPr>
        <p:spPr bwMode="auto">
          <a:xfrm>
            <a:off x="4427984" y="2204864"/>
            <a:ext cx="3744416" cy="2952328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  <a:alpha val="50000"/>
            </a:schemeClr>
          </a:solidFill>
          <a:ln w="9525">
            <a:noFill/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fr-FR" sz="1400" b="1" dirty="0" smtClean="0">
              <a:solidFill>
                <a:schemeClr val="accent3">
                  <a:lumMod val="95000"/>
                </a:schemeClr>
              </a:solidFill>
            </a:endParaRPr>
          </a:p>
          <a:p>
            <a:r>
              <a:rPr lang="fr-FR" sz="1400" b="1" u="sng" dirty="0" smtClean="0">
                <a:solidFill>
                  <a:schemeClr val="accent3"/>
                </a:solidFill>
              </a:rPr>
              <a:t>Moyens</a:t>
            </a:r>
          </a:p>
          <a:p>
            <a:r>
              <a:rPr lang="es-ES_tradnl" sz="1400" dirty="0" smtClean="0">
                <a:solidFill>
                  <a:schemeClr val="accent3">
                    <a:lumMod val="95000"/>
                  </a:schemeClr>
                </a:solidFill>
              </a:rPr>
              <a:t>           </a:t>
            </a:r>
            <a:r>
              <a:rPr lang="es-ES_tradnl" sz="1400" dirty="0" err="1" smtClean="0">
                <a:solidFill>
                  <a:schemeClr val="accent3">
                    <a:lumMod val="95000"/>
                  </a:schemeClr>
                </a:solidFill>
              </a:rPr>
              <a:t>Collecter</a:t>
            </a:r>
            <a:r>
              <a:rPr lang="es-ES_tradnl" sz="1400" dirty="0" smtClean="0">
                <a:solidFill>
                  <a:schemeClr val="accent3">
                    <a:lumMod val="95000"/>
                  </a:schemeClr>
                </a:solidFill>
              </a:rPr>
              <a:t> </a:t>
            </a:r>
            <a:r>
              <a:rPr lang="es-ES_tradnl" sz="1400" dirty="0">
                <a:solidFill>
                  <a:schemeClr val="accent3">
                    <a:lumMod val="95000"/>
                  </a:schemeClr>
                </a:solidFill>
              </a:rPr>
              <a:t>les alarmes </a:t>
            </a:r>
            <a:r>
              <a:rPr lang="es-ES_tradnl" sz="1400" dirty="0" err="1" smtClean="0">
                <a:solidFill>
                  <a:schemeClr val="accent3">
                    <a:lumMod val="95000"/>
                  </a:schemeClr>
                </a:solidFill>
              </a:rPr>
              <a:t>hétérogènes</a:t>
            </a:r>
            <a:endParaRPr lang="es-ES_tradnl" sz="1400" dirty="0">
              <a:solidFill>
                <a:schemeClr val="accent3">
                  <a:lumMod val="95000"/>
                </a:schemeClr>
              </a:solidFill>
            </a:endParaRPr>
          </a:p>
          <a:p>
            <a:r>
              <a:rPr lang="es-ES_tradnl" sz="1400" dirty="0" smtClean="0">
                <a:solidFill>
                  <a:schemeClr val="accent3">
                    <a:lumMod val="95000"/>
                  </a:schemeClr>
                </a:solidFill>
              </a:rPr>
              <a:t>           </a:t>
            </a:r>
            <a:r>
              <a:rPr lang="es-ES_tradnl" sz="1400" dirty="0" err="1" smtClean="0">
                <a:solidFill>
                  <a:schemeClr val="accent3">
                    <a:lumMod val="95000"/>
                  </a:schemeClr>
                </a:solidFill>
              </a:rPr>
              <a:t>Monitorer</a:t>
            </a:r>
            <a:r>
              <a:rPr lang="es-ES_tradnl" sz="1400" dirty="0" smtClean="0">
                <a:solidFill>
                  <a:schemeClr val="accent3">
                    <a:lumMod val="95000"/>
                  </a:schemeClr>
                </a:solidFill>
              </a:rPr>
              <a:t> les </a:t>
            </a:r>
            <a:r>
              <a:rPr lang="es-ES_tradnl" sz="1400" dirty="0" err="1" smtClean="0">
                <a:solidFill>
                  <a:schemeClr val="accent3">
                    <a:lumMod val="95000"/>
                  </a:schemeClr>
                </a:solidFill>
              </a:rPr>
              <a:t>éléments</a:t>
            </a:r>
            <a:r>
              <a:rPr lang="es-ES_tradnl" sz="1400" dirty="0" smtClean="0">
                <a:solidFill>
                  <a:schemeClr val="accent3">
                    <a:lumMod val="95000"/>
                  </a:schemeClr>
                </a:solidFill>
              </a:rPr>
              <a:t> </a:t>
            </a:r>
            <a:r>
              <a:rPr lang="es-ES_tradnl" sz="1400" dirty="0" err="1">
                <a:solidFill>
                  <a:schemeClr val="accent3">
                    <a:lumMod val="95000"/>
                  </a:schemeClr>
                </a:solidFill>
              </a:rPr>
              <a:t>actifs</a:t>
            </a:r>
            <a:endParaRPr lang="es-ES_tradnl" sz="1400" dirty="0">
              <a:solidFill>
                <a:schemeClr val="accent3">
                  <a:lumMod val="95000"/>
                </a:schemeClr>
              </a:solidFill>
            </a:endParaRPr>
          </a:p>
          <a:p>
            <a:r>
              <a:rPr lang="es-ES_tradnl" sz="1400" dirty="0" smtClean="0">
                <a:solidFill>
                  <a:schemeClr val="accent3">
                    <a:lumMod val="95000"/>
                  </a:schemeClr>
                </a:solidFill>
              </a:rPr>
              <a:t>           </a:t>
            </a:r>
            <a:r>
              <a:rPr lang="es-ES_tradnl" sz="1400" dirty="0" err="1" smtClean="0">
                <a:solidFill>
                  <a:schemeClr val="accent3">
                    <a:lumMod val="95000"/>
                  </a:schemeClr>
                </a:solidFill>
              </a:rPr>
              <a:t>Paramétrer</a:t>
            </a:r>
            <a:r>
              <a:rPr lang="es-ES_tradnl" sz="1400" dirty="0" smtClean="0">
                <a:solidFill>
                  <a:schemeClr val="accent3">
                    <a:lumMod val="95000"/>
                  </a:schemeClr>
                </a:solidFill>
              </a:rPr>
              <a:t> </a:t>
            </a:r>
            <a:r>
              <a:rPr lang="es-ES_tradnl" sz="1400" dirty="0">
                <a:solidFill>
                  <a:schemeClr val="accent3">
                    <a:lumMod val="95000"/>
                  </a:schemeClr>
                </a:solidFill>
              </a:rPr>
              <a:t>les </a:t>
            </a:r>
            <a:r>
              <a:rPr lang="es-ES_tradnl" sz="1400" dirty="0" err="1">
                <a:solidFill>
                  <a:schemeClr val="accent3">
                    <a:lumMod val="95000"/>
                  </a:schemeClr>
                </a:solidFill>
              </a:rPr>
              <a:t>scenarri</a:t>
            </a:r>
            <a:r>
              <a:rPr lang="es-ES_tradnl" sz="1400" dirty="0">
                <a:solidFill>
                  <a:schemeClr val="accent3">
                    <a:lumMod val="95000"/>
                  </a:schemeClr>
                </a:solidFill>
              </a:rPr>
              <a:t> de </a:t>
            </a:r>
            <a:r>
              <a:rPr lang="es-ES_tradnl" sz="1400" dirty="0" err="1" smtClean="0">
                <a:solidFill>
                  <a:schemeClr val="accent3">
                    <a:lumMod val="95000"/>
                  </a:schemeClr>
                </a:solidFill>
              </a:rPr>
              <a:t>diffusions</a:t>
            </a:r>
            <a:endParaRPr lang="es-ES_tradnl" sz="1400" dirty="0" smtClean="0">
              <a:solidFill>
                <a:schemeClr val="accent3">
                  <a:lumMod val="95000"/>
                </a:schemeClr>
              </a:solidFill>
            </a:endParaRPr>
          </a:p>
          <a:p>
            <a:r>
              <a:rPr lang="es-ES_tradnl" sz="1400" dirty="0" smtClean="0">
                <a:solidFill>
                  <a:schemeClr val="accent3">
                    <a:lumMod val="95000"/>
                  </a:schemeClr>
                </a:solidFill>
              </a:rPr>
              <a:t>           </a:t>
            </a:r>
            <a:r>
              <a:rPr lang="es-ES_tradnl" sz="1400" dirty="0" err="1">
                <a:solidFill>
                  <a:schemeClr val="accent3">
                    <a:lumMod val="95000"/>
                  </a:schemeClr>
                </a:solidFill>
              </a:rPr>
              <a:t>d’informations</a:t>
            </a:r>
            <a:r>
              <a:rPr lang="es-ES_tradnl" sz="1400" dirty="0">
                <a:solidFill>
                  <a:schemeClr val="accent3">
                    <a:lumMod val="95000"/>
                  </a:schemeClr>
                </a:solidFill>
              </a:rPr>
              <a:t> </a:t>
            </a:r>
            <a:r>
              <a:rPr lang="es-ES_tradnl" sz="1400" dirty="0" err="1" smtClean="0">
                <a:solidFill>
                  <a:schemeClr val="accent3">
                    <a:lumMod val="95000"/>
                  </a:schemeClr>
                </a:solidFill>
              </a:rPr>
              <a:t>vers</a:t>
            </a:r>
            <a:r>
              <a:rPr lang="es-ES_tradnl" sz="1400" dirty="0" smtClean="0">
                <a:solidFill>
                  <a:schemeClr val="accent3">
                    <a:lumMod val="95000"/>
                  </a:schemeClr>
                </a:solidFill>
              </a:rPr>
              <a:t> </a:t>
            </a:r>
            <a:r>
              <a:rPr lang="es-ES_tradnl" sz="1400" dirty="0" err="1" smtClean="0">
                <a:solidFill>
                  <a:schemeClr val="accent3">
                    <a:lumMod val="95000"/>
                  </a:schemeClr>
                </a:solidFill>
              </a:rPr>
              <a:t>tout</a:t>
            </a:r>
            <a:r>
              <a:rPr lang="es-ES_tradnl" sz="1400" dirty="0" smtClean="0">
                <a:solidFill>
                  <a:schemeClr val="accent3">
                    <a:lumMod val="95000"/>
                  </a:schemeClr>
                </a:solidFill>
              </a:rPr>
              <a:t> </a:t>
            </a:r>
            <a:r>
              <a:rPr lang="es-ES_tradnl" sz="1400" dirty="0" err="1" smtClean="0">
                <a:solidFill>
                  <a:schemeClr val="accent3">
                    <a:lumMod val="95000"/>
                  </a:schemeClr>
                </a:solidFill>
              </a:rPr>
              <a:t>média</a:t>
            </a:r>
            <a:r>
              <a:rPr lang="es-ES_tradnl" sz="1400" dirty="0" smtClean="0">
                <a:solidFill>
                  <a:schemeClr val="accent3">
                    <a:lumMod val="95000"/>
                  </a:schemeClr>
                </a:solidFill>
              </a:rPr>
              <a:t>,</a:t>
            </a:r>
            <a:endParaRPr lang="es-ES_tradnl" sz="1400" dirty="0">
              <a:solidFill>
                <a:schemeClr val="accent3">
                  <a:lumMod val="95000"/>
                </a:schemeClr>
              </a:solidFill>
            </a:endParaRPr>
          </a:p>
          <a:p>
            <a:r>
              <a:rPr lang="es-ES_tradnl" sz="1400" dirty="0">
                <a:solidFill>
                  <a:schemeClr val="accent3">
                    <a:lumMod val="95000"/>
                  </a:schemeClr>
                </a:solidFill>
              </a:rPr>
              <a:t> </a:t>
            </a:r>
            <a:endParaRPr lang="es-ES_tradnl" sz="1400" dirty="0" smtClean="0">
              <a:solidFill>
                <a:schemeClr val="accent3">
                  <a:lumMod val="95000"/>
                </a:schemeClr>
              </a:solidFill>
            </a:endParaRPr>
          </a:p>
          <a:p>
            <a:pPr>
              <a:buFontTx/>
              <a:buChar char="•"/>
            </a:pPr>
            <a:endParaRPr lang="es-ES_tradnl" sz="1400" dirty="0" smtClean="0">
              <a:solidFill>
                <a:schemeClr val="accent3">
                  <a:lumMod val="95000"/>
                </a:schemeClr>
              </a:solidFill>
            </a:endParaRPr>
          </a:p>
          <a:p>
            <a:endParaRPr lang="es-ES_tradnl" sz="1400" dirty="0" smtClean="0">
              <a:solidFill>
                <a:schemeClr val="accent3">
                  <a:lumMod val="95000"/>
                </a:schemeClr>
              </a:solidFill>
            </a:endParaRPr>
          </a:p>
          <a:p>
            <a:endParaRPr lang="es-ES_tradnl" sz="1400" dirty="0" smtClean="0">
              <a:solidFill>
                <a:schemeClr val="accent3">
                  <a:lumMod val="95000"/>
                </a:schemeClr>
              </a:solidFill>
            </a:endParaRPr>
          </a:p>
          <a:p>
            <a:endParaRPr lang="es-ES_tradnl" sz="1400" dirty="0" smtClean="0">
              <a:solidFill>
                <a:schemeClr val="accent3">
                  <a:lumMod val="95000"/>
                </a:schemeClr>
              </a:solidFill>
            </a:endParaRPr>
          </a:p>
          <a:p>
            <a:endParaRPr lang="es-ES_tradnl" sz="1400" dirty="0" smtClean="0">
              <a:solidFill>
                <a:schemeClr val="accent3">
                  <a:lumMod val="95000"/>
                </a:schemeClr>
              </a:solidFill>
            </a:endParaRPr>
          </a:p>
          <a:p>
            <a:r>
              <a:rPr lang="es-ES_tradnl" sz="1400" dirty="0" smtClean="0">
                <a:solidFill>
                  <a:schemeClr val="accent3">
                    <a:lumMod val="95000"/>
                  </a:schemeClr>
                </a:solidFill>
              </a:rPr>
              <a:t>           </a:t>
            </a:r>
            <a:r>
              <a:rPr lang="es-ES_tradnl" sz="1400" dirty="0" err="1" smtClean="0">
                <a:solidFill>
                  <a:schemeClr val="accent3">
                    <a:lumMod val="95000"/>
                  </a:schemeClr>
                </a:solidFill>
              </a:rPr>
              <a:t>Traçer</a:t>
            </a:r>
            <a:r>
              <a:rPr lang="es-ES_tradnl" sz="1400" dirty="0" smtClean="0">
                <a:solidFill>
                  <a:schemeClr val="accent3">
                    <a:lumMod val="95000"/>
                  </a:schemeClr>
                </a:solidFill>
              </a:rPr>
              <a:t> </a:t>
            </a:r>
            <a:r>
              <a:rPr lang="es-ES_tradnl" sz="1400" dirty="0">
                <a:solidFill>
                  <a:schemeClr val="accent3">
                    <a:lumMod val="95000"/>
                  </a:schemeClr>
                </a:solidFill>
              </a:rPr>
              <a:t>les </a:t>
            </a:r>
            <a:r>
              <a:rPr lang="es-ES_tradnl" sz="1400" dirty="0" err="1">
                <a:solidFill>
                  <a:schemeClr val="accent3">
                    <a:lumMod val="95000"/>
                  </a:schemeClr>
                </a:solidFill>
              </a:rPr>
              <a:t>événements</a:t>
            </a:r>
            <a:r>
              <a:rPr lang="es-ES_tradnl" sz="1400" dirty="0">
                <a:solidFill>
                  <a:schemeClr val="accent3">
                    <a:lumMod val="95000"/>
                  </a:schemeClr>
                </a:solidFill>
              </a:rPr>
              <a:t> </a:t>
            </a:r>
            <a:endParaRPr lang="es-ES_tradnl" sz="1400" dirty="0" smtClean="0">
              <a:solidFill>
                <a:schemeClr val="accent3">
                  <a:lumMod val="95000"/>
                </a:schemeClr>
              </a:solidFill>
            </a:endParaRPr>
          </a:p>
          <a:p>
            <a:r>
              <a:rPr lang="es-ES_tradnl" sz="1400" dirty="0" smtClean="0">
                <a:solidFill>
                  <a:schemeClr val="accent3">
                    <a:lumMod val="95000"/>
                  </a:schemeClr>
                </a:solidFill>
              </a:rPr>
              <a:t>           du </a:t>
            </a:r>
            <a:r>
              <a:rPr lang="es-ES_tradnl" sz="1400" dirty="0" err="1">
                <a:solidFill>
                  <a:schemeClr val="accent3">
                    <a:lumMod val="95000"/>
                  </a:schemeClr>
                </a:solidFill>
              </a:rPr>
              <a:t>site</a:t>
            </a:r>
            <a:r>
              <a:rPr lang="es-ES_tradnl" sz="1400" dirty="0">
                <a:solidFill>
                  <a:schemeClr val="accent3">
                    <a:lumMod val="95000"/>
                  </a:schemeClr>
                </a:solidFill>
              </a:rPr>
              <a:t> 24/24 </a:t>
            </a:r>
          </a:p>
        </p:txBody>
      </p:sp>
      <p:pic>
        <p:nvPicPr>
          <p:cNvPr id="3099" name="Picture 27" descr="F:\DIALYSE\Ipx800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1692" y="3573016"/>
            <a:ext cx="688460" cy="664603"/>
          </a:xfrm>
          <a:prstGeom prst="rect">
            <a:avLst/>
          </a:prstGeom>
          <a:noFill/>
        </p:spPr>
      </p:pic>
      <p:cxnSp>
        <p:nvCxnSpPr>
          <p:cNvPr id="44" name="AutoShape 19"/>
          <p:cNvCxnSpPr>
            <a:cxnSpLocks noChangeShapeType="1"/>
          </p:cNvCxnSpPr>
          <p:nvPr/>
        </p:nvCxnSpPr>
        <p:spPr bwMode="auto">
          <a:xfrm flipV="1">
            <a:off x="2339752" y="4221088"/>
            <a:ext cx="3024336" cy="208823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>
            <a:outerShdw blurRad="50800" dist="50800" dir="5400000" algn="ctr" rotWithShape="0">
              <a:srgbClr val="FF0000"/>
            </a:outerShdw>
          </a:effectLst>
        </p:spPr>
      </p:cxnSp>
      <p:pic>
        <p:nvPicPr>
          <p:cNvPr id="3106" name="Picture 3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1452445">
            <a:off x="8053301" y="862551"/>
            <a:ext cx="809054" cy="1547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03" name="Picture 31" descr="F:\DIALYSE\pompe relevage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1767" y="4365104"/>
            <a:ext cx="1465897" cy="939260"/>
          </a:xfrm>
          <a:prstGeom prst="rect">
            <a:avLst/>
          </a:prstGeom>
          <a:noFill/>
        </p:spPr>
      </p:pic>
      <p:pic>
        <p:nvPicPr>
          <p:cNvPr id="3102" name="Picture 30" descr="F:\DIALYSE\Centrale Incendie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27584" y="3151237"/>
            <a:ext cx="1285875" cy="1285875"/>
          </a:xfrm>
          <a:prstGeom prst="rect">
            <a:avLst/>
          </a:prstGeom>
          <a:noFill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652135" y="44627"/>
            <a:ext cx="1222654" cy="81510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07504" y="-243408"/>
            <a:ext cx="8229600" cy="11430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4000" b="1" dirty="0" err="1" smtClean="0">
                <a:solidFill>
                  <a:srgbClr val="000000"/>
                </a:solidFill>
                <a:latin typeface="Calibri" pitchFamily="32" charset="0"/>
              </a:rPr>
              <a:t>NephroCall</a:t>
            </a:r>
            <a:r>
              <a:rPr lang="fr-FR" sz="4000" dirty="0" smtClean="0">
                <a:solidFill>
                  <a:srgbClr val="000000"/>
                </a:solidFill>
                <a:latin typeface="Calibri" pitchFamily="32" charset="0"/>
              </a:rPr>
              <a:t> </a:t>
            </a:r>
            <a:r>
              <a:rPr lang="fr-FR" sz="2400" i="1" dirty="0" smtClean="0">
                <a:solidFill>
                  <a:srgbClr val="0070C0"/>
                </a:solidFill>
                <a:latin typeface="Calibri" pitchFamily="32" charset="0"/>
              </a:rPr>
              <a:t>by</a:t>
            </a:r>
            <a:endParaRPr lang="fr-FR" sz="3600" dirty="0">
              <a:solidFill>
                <a:srgbClr val="0070C0"/>
              </a:solidFill>
              <a:latin typeface="Calibri" pitchFamily="32" charset="0"/>
            </a:endParaRP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1273220" y="692696"/>
            <a:ext cx="6467132" cy="586957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1400" b="1" dirty="0" smtClean="0">
                <a:solidFill>
                  <a:srgbClr val="000000"/>
                </a:solidFill>
              </a:rPr>
              <a:t>Package de Supervision d'équipements hétérogènes de Centre de Dialyse</a:t>
            </a:r>
            <a:endParaRPr lang="fr-FR" sz="1400" b="1" dirty="0">
              <a:solidFill>
                <a:srgbClr val="000000"/>
              </a:solidFill>
            </a:endParaRP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b="1" dirty="0">
                <a:solidFill>
                  <a:srgbClr val="000000"/>
                </a:solidFill>
              </a:rPr>
              <a:t>    </a:t>
            </a:r>
          </a:p>
        </p:txBody>
      </p:sp>
      <p:sp>
        <p:nvSpPr>
          <p:cNvPr id="3082" name="Oval 10"/>
          <p:cNvSpPr>
            <a:spLocks noChangeArrowheads="1"/>
          </p:cNvSpPr>
          <p:nvPr/>
        </p:nvSpPr>
        <p:spPr bwMode="auto">
          <a:xfrm flipH="1">
            <a:off x="2123728" y="2780928"/>
            <a:ext cx="215900" cy="215900"/>
          </a:xfrm>
          <a:prstGeom prst="ellipse">
            <a:avLst/>
          </a:prstGeom>
          <a:solidFill>
            <a:srgbClr val="00B0F0"/>
          </a:solidFill>
          <a:ln w="25560" cap="sq">
            <a:solidFill>
              <a:srgbClr val="385D8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083" name="Oval 11"/>
          <p:cNvSpPr>
            <a:spLocks noChangeArrowheads="1"/>
          </p:cNvSpPr>
          <p:nvPr/>
        </p:nvSpPr>
        <p:spPr bwMode="auto">
          <a:xfrm flipH="1">
            <a:off x="2123728" y="5373340"/>
            <a:ext cx="215900" cy="215900"/>
          </a:xfrm>
          <a:prstGeom prst="ellipse">
            <a:avLst/>
          </a:prstGeom>
          <a:solidFill>
            <a:srgbClr val="00B0F0"/>
          </a:solidFill>
          <a:ln w="25560" cap="sq">
            <a:solidFill>
              <a:srgbClr val="385D8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084" name="Oval 12"/>
          <p:cNvSpPr>
            <a:spLocks noChangeArrowheads="1"/>
          </p:cNvSpPr>
          <p:nvPr/>
        </p:nvSpPr>
        <p:spPr bwMode="auto">
          <a:xfrm flipH="1">
            <a:off x="2123728" y="1916832"/>
            <a:ext cx="215900" cy="215900"/>
          </a:xfrm>
          <a:prstGeom prst="ellipse">
            <a:avLst/>
          </a:prstGeom>
          <a:solidFill>
            <a:srgbClr val="FF0000"/>
          </a:solidFill>
          <a:ln w="25560" cap="sq">
            <a:solidFill>
              <a:srgbClr val="385D8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3101" name="Picture 29" descr="F:\DIALYSE\Groupe electrogène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79512" y="2333436"/>
            <a:ext cx="1428750" cy="951548"/>
          </a:xfrm>
          <a:prstGeom prst="rect">
            <a:avLst/>
          </a:prstGeom>
          <a:noFill/>
        </p:spPr>
      </p:pic>
      <p:sp>
        <p:nvSpPr>
          <p:cNvPr id="31" name="Oval 10"/>
          <p:cNvSpPr>
            <a:spLocks noChangeArrowheads="1"/>
          </p:cNvSpPr>
          <p:nvPr/>
        </p:nvSpPr>
        <p:spPr bwMode="auto">
          <a:xfrm flipH="1">
            <a:off x="2123728" y="3717156"/>
            <a:ext cx="215900" cy="215900"/>
          </a:xfrm>
          <a:prstGeom prst="ellipse">
            <a:avLst/>
          </a:prstGeom>
          <a:solidFill>
            <a:srgbClr val="00B0F0"/>
          </a:solidFill>
          <a:ln w="25560" cap="sq">
            <a:solidFill>
              <a:srgbClr val="385D8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2" name="Oval 10"/>
          <p:cNvSpPr>
            <a:spLocks noChangeArrowheads="1"/>
          </p:cNvSpPr>
          <p:nvPr/>
        </p:nvSpPr>
        <p:spPr bwMode="auto">
          <a:xfrm flipH="1">
            <a:off x="2123728" y="4581252"/>
            <a:ext cx="215900" cy="215900"/>
          </a:xfrm>
          <a:prstGeom prst="ellipse">
            <a:avLst/>
          </a:prstGeom>
          <a:solidFill>
            <a:srgbClr val="00B0F0"/>
          </a:solidFill>
          <a:ln w="25560" cap="sq">
            <a:solidFill>
              <a:srgbClr val="385D8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3105" name="Picture 33" descr="F:\DIALYSE\Centrale Intrusion.jp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971600" y="5157192"/>
            <a:ext cx="1082707" cy="1080135"/>
          </a:xfrm>
          <a:prstGeom prst="rect">
            <a:avLst/>
          </a:prstGeom>
          <a:noFill/>
        </p:spPr>
      </p:pic>
      <p:sp>
        <p:nvSpPr>
          <p:cNvPr id="37" name="Rectangle 3"/>
          <p:cNvSpPr>
            <a:spLocks noChangeArrowheads="1"/>
          </p:cNvSpPr>
          <p:nvPr/>
        </p:nvSpPr>
        <p:spPr bwMode="auto">
          <a:xfrm>
            <a:off x="0" y="6604000"/>
            <a:ext cx="9144000" cy="2444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000" dirty="0" err="1" smtClean="0">
                <a:solidFill>
                  <a:schemeClr val="tx1"/>
                </a:solidFill>
              </a:rPr>
              <a:t>SafeFull</a:t>
            </a:r>
            <a:r>
              <a:rPr lang="fr-FR" sz="1000" dirty="0" smtClean="0">
                <a:solidFill>
                  <a:schemeClr val="tx1"/>
                </a:solidFill>
              </a:rPr>
              <a:t> </a:t>
            </a:r>
            <a:r>
              <a:rPr lang="fr-FR" sz="1000" dirty="0">
                <a:solidFill>
                  <a:schemeClr val="tx1"/>
                </a:solidFill>
              </a:rPr>
              <a:t>Systems 	</a:t>
            </a:r>
            <a:r>
              <a:rPr lang="en-US" sz="1000" dirty="0" err="1">
                <a:solidFill>
                  <a:schemeClr val="tx1"/>
                </a:solidFill>
              </a:rPr>
              <a:t>Infoline</a:t>
            </a:r>
            <a:r>
              <a:rPr lang="en-US" sz="1000" dirty="0">
                <a:solidFill>
                  <a:schemeClr val="tx1"/>
                </a:solidFill>
              </a:rPr>
              <a:t> : </a:t>
            </a:r>
            <a:r>
              <a:rPr lang="en-US" sz="1000" dirty="0" smtClean="0">
                <a:solidFill>
                  <a:schemeClr val="tx1"/>
                </a:solidFill>
              </a:rPr>
              <a:t>01 53 90 40 95</a:t>
            </a:r>
            <a:r>
              <a:rPr lang="en-US" sz="1000" dirty="0">
                <a:solidFill>
                  <a:schemeClr val="tx1"/>
                </a:solidFill>
              </a:rPr>
              <a:t>	</a:t>
            </a:r>
            <a:r>
              <a:rPr lang="en-US" sz="1000" dirty="0" smtClean="0">
                <a:solidFill>
                  <a:schemeClr val="tx1"/>
                </a:solidFill>
              </a:rPr>
              <a:t>marc.dequecker@safefull.com</a:t>
            </a:r>
            <a:endParaRPr lang="en-US" sz="1000" dirty="0">
              <a:solidFill>
                <a:schemeClr val="tx1"/>
              </a:solidFill>
            </a:endParaRP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6012160" y="3737025"/>
            <a:ext cx="720080" cy="412055"/>
            <a:chOff x="2640" y="1152"/>
            <a:chExt cx="1536" cy="864"/>
          </a:xfrm>
        </p:grpSpPr>
        <p:sp>
          <p:nvSpPr>
            <p:cNvPr id="40" name="Freeform 20"/>
            <p:cNvSpPr>
              <a:spLocks/>
            </p:cNvSpPr>
            <p:nvPr/>
          </p:nvSpPr>
          <p:spPr bwMode="auto">
            <a:xfrm rot="237451">
              <a:off x="2640" y="1152"/>
              <a:ext cx="1536" cy="864"/>
            </a:xfrm>
            <a:custGeom>
              <a:avLst/>
              <a:gdLst>
                <a:gd name="T0" fmla="*/ 61 w 732"/>
                <a:gd name="T1" fmla="*/ 150 h 352"/>
                <a:gd name="T2" fmla="*/ 30 w 732"/>
                <a:gd name="T3" fmla="*/ 166 h 352"/>
                <a:gd name="T4" fmla="*/ 8 w 732"/>
                <a:gd name="T5" fmla="*/ 189 h 352"/>
                <a:gd name="T6" fmla="*/ 0 w 732"/>
                <a:gd name="T7" fmla="*/ 216 h 352"/>
                <a:gd name="T8" fmla="*/ 2 w 732"/>
                <a:gd name="T9" fmla="*/ 240 h 352"/>
                <a:gd name="T10" fmla="*/ 10 w 732"/>
                <a:gd name="T11" fmla="*/ 253 h 352"/>
                <a:gd name="T12" fmla="*/ 29 w 732"/>
                <a:gd name="T13" fmla="*/ 272 h 352"/>
                <a:gd name="T14" fmla="*/ 67 w 732"/>
                <a:gd name="T15" fmla="*/ 291 h 352"/>
                <a:gd name="T16" fmla="*/ 115 w 732"/>
                <a:gd name="T17" fmla="*/ 301 h 352"/>
                <a:gd name="T18" fmla="*/ 149 w 732"/>
                <a:gd name="T19" fmla="*/ 310 h 352"/>
                <a:gd name="T20" fmla="*/ 173 w 732"/>
                <a:gd name="T21" fmla="*/ 326 h 352"/>
                <a:gd name="T22" fmla="*/ 203 w 732"/>
                <a:gd name="T23" fmla="*/ 339 h 352"/>
                <a:gd name="T24" fmla="*/ 238 w 732"/>
                <a:gd name="T25" fmla="*/ 344 h 352"/>
                <a:gd name="T26" fmla="*/ 278 w 732"/>
                <a:gd name="T27" fmla="*/ 342 h 352"/>
                <a:gd name="T28" fmla="*/ 317 w 732"/>
                <a:gd name="T29" fmla="*/ 333 h 352"/>
                <a:gd name="T30" fmla="*/ 347 w 732"/>
                <a:gd name="T31" fmla="*/ 334 h 352"/>
                <a:gd name="T32" fmla="*/ 381 w 732"/>
                <a:gd name="T33" fmla="*/ 347 h 352"/>
                <a:gd name="T34" fmla="*/ 422 w 732"/>
                <a:gd name="T35" fmla="*/ 352 h 352"/>
                <a:gd name="T36" fmla="*/ 465 w 732"/>
                <a:gd name="T37" fmla="*/ 350 h 352"/>
                <a:gd name="T38" fmla="*/ 523 w 732"/>
                <a:gd name="T39" fmla="*/ 334 h 352"/>
                <a:gd name="T40" fmla="*/ 577 w 732"/>
                <a:gd name="T41" fmla="*/ 302 h 352"/>
                <a:gd name="T42" fmla="*/ 597 w 732"/>
                <a:gd name="T43" fmla="*/ 282 h 352"/>
                <a:gd name="T44" fmla="*/ 662 w 732"/>
                <a:gd name="T45" fmla="*/ 267 h 352"/>
                <a:gd name="T46" fmla="*/ 705 w 732"/>
                <a:gd name="T47" fmla="*/ 246 h 352"/>
                <a:gd name="T48" fmla="*/ 728 w 732"/>
                <a:gd name="T49" fmla="*/ 219 h 352"/>
                <a:gd name="T50" fmla="*/ 731 w 732"/>
                <a:gd name="T51" fmla="*/ 206 h 352"/>
                <a:gd name="T52" fmla="*/ 731 w 732"/>
                <a:gd name="T53" fmla="*/ 192 h 352"/>
                <a:gd name="T54" fmla="*/ 721 w 732"/>
                <a:gd name="T55" fmla="*/ 168 h 352"/>
                <a:gd name="T56" fmla="*/ 704 w 732"/>
                <a:gd name="T57" fmla="*/ 147 h 352"/>
                <a:gd name="T58" fmla="*/ 680 w 732"/>
                <a:gd name="T59" fmla="*/ 133 h 352"/>
                <a:gd name="T60" fmla="*/ 653 w 732"/>
                <a:gd name="T61" fmla="*/ 112 h 352"/>
                <a:gd name="T62" fmla="*/ 653 w 732"/>
                <a:gd name="T63" fmla="*/ 94 h 352"/>
                <a:gd name="T64" fmla="*/ 643 w 732"/>
                <a:gd name="T65" fmla="*/ 74 h 352"/>
                <a:gd name="T66" fmla="*/ 619 w 732"/>
                <a:gd name="T67" fmla="*/ 50 h 352"/>
                <a:gd name="T68" fmla="*/ 584 w 732"/>
                <a:gd name="T69" fmla="*/ 34 h 352"/>
                <a:gd name="T70" fmla="*/ 541 w 732"/>
                <a:gd name="T71" fmla="*/ 29 h 352"/>
                <a:gd name="T72" fmla="*/ 493 w 732"/>
                <a:gd name="T73" fmla="*/ 40 h 352"/>
                <a:gd name="T74" fmla="*/ 467 w 732"/>
                <a:gd name="T75" fmla="*/ 22 h 352"/>
                <a:gd name="T76" fmla="*/ 433 w 732"/>
                <a:gd name="T77" fmla="*/ 10 h 352"/>
                <a:gd name="T78" fmla="*/ 354 w 732"/>
                <a:gd name="T79" fmla="*/ 0 h 352"/>
                <a:gd name="T80" fmla="*/ 270 w 732"/>
                <a:gd name="T81" fmla="*/ 14 h 352"/>
                <a:gd name="T82" fmla="*/ 238 w 732"/>
                <a:gd name="T83" fmla="*/ 30 h 352"/>
                <a:gd name="T84" fmla="*/ 216 w 732"/>
                <a:gd name="T85" fmla="*/ 50 h 352"/>
                <a:gd name="T86" fmla="*/ 163 w 732"/>
                <a:gd name="T87" fmla="*/ 48 h 352"/>
                <a:gd name="T88" fmla="*/ 123 w 732"/>
                <a:gd name="T89" fmla="*/ 59 h 352"/>
                <a:gd name="T90" fmla="*/ 94 w 732"/>
                <a:gd name="T91" fmla="*/ 82 h 352"/>
                <a:gd name="T92" fmla="*/ 78 w 732"/>
                <a:gd name="T93" fmla="*/ 109 h 352"/>
                <a:gd name="T94" fmla="*/ 77 w 732"/>
                <a:gd name="T95" fmla="*/ 131 h 352"/>
                <a:gd name="T96" fmla="*/ 80 w 732"/>
                <a:gd name="T97" fmla="*/ 146 h 35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732"/>
                <a:gd name="T148" fmla="*/ 0 h 352"/>
                <a:gd name="T149" fmla="*/ 732 w 732"/>
                <a:gd name="T150" fmla="*/ 352 h 35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732" h="352">
                  <a:moveTo>
                    <a:pt x="80" y="147"/>
                  </a:moveTo>
                  <a:lnTo>
                    <a:pt x="61" y="150"/>
                  </a:lnTo>
                  <a:lnTo>
                    <a:pt x="45" y="158"/>
                  </a:lnTo>
                  <a:lnTo>
                    <a:pt x="30" y="166"/>
                  </a:lnTo>
                  <a:lnTo>
                    <a:pt x="18" y="178"/>
                  </a:lnTo>
                  <a:lnTo>
                    <a:pt x="8" y="189"/>
                  </a:lnTo>
                  <a:lnTo>
                    <a:pt x="2" y="202"/>
                  </a:lnTo>
                  <a:lnTo>
                    <a:pt x="0" y="216"/>
                  </a:lnTo>
                  <a:lnTo>
                    <a:pt x="0" y="232"/>
                  </a:lnTo>
                  <a:lnTo>
                    <a:pt x="2" y="240"/>
                  </a:lnTo>
                  <a:lnTo>
                    <a:pt x="5" y="246"/>
                  </a:lnTo>
                  <a:lnTo>
                    <a:pt x="10" y="253"/>
                  </a:lnTo>
                  <a:lnTo>
                    <a:pt x="14" y="261"/>
                  </a:lnTo>
                  <a:lnTo>
                    <a:pt x="29" y="272"/>
                  </a:lnTo>
                  <a:lnTo>
                    <a:pt x="46" y="283"/>
                  </a:lnTo>
                  <a:lnTo>
                    <a:pt x="67" y="291"/>
                  </a:lnTo>
                  <a:lnTo>
                    <a:pt x="91" y="298"/>
                  </a:lnTo>
                  <a:lnTo>
                    <a:pt x="115" y="301"/>
                  </a:lnTo>
                  <a:lnTo>
                    <a:pt x="139" y="301"/>
                  </a:lnTo>
                  <a:lnTo>
                    <a:pt x="149" y="310"/>
                  </a:lnTo>
                  <a:lnTo>
                    <a:pt x="160" y="320"/>
                  </a:lnTo>
                  <a:lnTo>
                    <a:pt x="173" y="326"/>
                  </a:lnTo>
                  <a:lnTo>
                    <a:pt x="187" y="333"/>
                  </a:lnTo>
                  <a:lnTo>
                    <a:pt x="203" y="339"/>
                  </a:lnTo>
                  <a:lnTo>
                    <a:pt x="219" y="342"/>
                  </a:lnTo>
                  <a:lnTo>
                    <a:pt x="238" y="344"/>
                  </a:lnTo>
                  <a:lnTo>
                    <a:pt x="258" y="344"/>
                  </a:lnTo>
                  <a:lnTo>
                    <a:pt x="278" y="342"/>
                  </a:lnTo>
                  <a:lnTo>
                    <a:pt x="298" y="339"/>
                  </a:lnTo>
                  <a:lnTo>
                    <a:pt x="317" y="333"/>
                  </a:lnTo>
                  <a:lnTo>
                    <a:pt x="333" y="326"/>
                  </a:lnTo>
                  <a:lnTo>
                    <a:pt x="347" y="334"/>
                  </a:lnTo>
                  <a:lnTo>
                    <a:pt x="363" y="341"/>
                  </a:lnTo>
                  <a:lnTo>
                    <a:pt x="381" y="347"/>
                  </a:lnTo>
                  <a:lnTo>
                    <a:pt x="401" y="350"/>
                  </a:lnTo>
                  <a:lnTo>
                    <a:pt x="422" y="352"/>
                  </a:lnTo>
                  <a:lnTo>
                    <a:pt x="443" y="352"/>
                  </a:lnTo>
                  <a:lnTo>
                    <a:pt x="465" y="350"/>
                  </a:lnTo>
                  <a:lnTo>
                    <a:pt x="488" y="346"/>
                  </a:lnTo>
                  <a:lnTo>
                    <a:pt x="523" y="334"/>
                  </a:lnTo>
                  <a:lnTo>
                    <a:pt x="553" y="320"/>
                  </a:lnTo>
                  <a:lnTo>
                    <a:pt x="577" y="302"/>
                  </a:lnTo>
                  <a:lnTo>
                    <a:pt x="589" y="293"/>
                  </a:lnTo>
                  <a:lnTo>
                    <a:pt x="597" y="282"/>
                  </a:lnTo>
                  <a:lnTo>
                    <a:pt x="633" y="277"/>
                  </a:lnTo>
                  <a:lnTo>
                    <a:pt x="662" y="267"/>
                  </a:lnTo>
                  <a:lnTo>
                    <a:pt x="686" y="258"/>
                  </a:lnTo>
                  <a:lnTo>
                    <a:pt x="705" y="246"/>
                  </a:lnTo>
                  <a:lnTo>
                    <a:pt x="718" y="234"/>
                  </a:lnTo>
                  <a:lnTo>
                    <a:pt x="728" y="219"/>
                  </a:lnTo>
                  <a:lnTo>
                    <a:pt x="729" y="213"/>
                  </a:lnTo>
                  <a:lnTo>
                    <a:pt x="731" y="206"/>
                  </a:lnTo>
                  <a:lnTo>
                    <a:pt x="732" y="200"/>
                  </a:lnTo>
                  <a:lnTo>
                    <a:pt x="731" y="192"/>
                  </a:lnTo>
                  <a:lnTo>
                    <a:pt x="728" y="179"/>
                  </a:lnTo>
                  <a:lnTo>
                    <a:pt x="721" y="168"/>
                  </a:lnTo>
                  <a:lnTo>
                    <a:pt x="713" y="157"/>
                  </a:lnTo>
                  <a:lnTo>
                    <a:pt x="704" y="147"/>
                  </a:lnTo>
                  <a:lnTo>
                    <a:pt x="693" y="139"/>
                  </a:lnTo>
                  <a:lnTo>
                    <a:pt x="680" y="133"/>
                  </a:lnTo>
                  <a:lnTo>
                    <a:pt x="651" y="122"/>
                  </a:lnTo>
                  <a:lnTo>
                    <a:pt x="653" y="112"/>
                  </a:lnTo>
                  <a:lnTo>
                    <a:pt x="653" y="102"/>
                  </a:lnTo>
                  <a:lnTo>
                    <a:pt x="653" y="94"/>
                  </a:lnTo>
                  <a:lnTo>
                    <a:pt x="649" y="88"/>
                  </a:lnTo>
                  <a:lnTo>
                    <a:pt x="643" y="74"/>
                  </a:lnTo>
                  <a:lnTo>
                    <a:pt x="632" y="61"/>
                  </a:lnTo>
                  <a:lnTo>
                    <a:pt x="619" y="50"/>
                  </a:lnTo>
                  <a:lnTo>
                    <a:pt x="601" y="40"/>
                  </a:lnTo>
                  <a:lnTo>
                    <a:pt x="584" y="34"/>
                  </a:lnTo>
                  <a:lnTo>
                    <a:pt x="563" y="30"/>
                  </a:lnTo>
                  <a:lnTo>
                    <a:pt x="541" y="29"/>
                  </a:lnTo>
                  <a:lnTo>
                    <a:pt x="515" y="32"/>
                  </a:lnTo>
                  <a:lnTo>
                    <a:pt x="493" y="40"/>
                  </a:lnTo>
                  <a:lnTo>
                    <a:pt x="480" y="30"/>
                  </a:lnTo>
                  <a:lnTo>
                    <a:pt x="467" y="22"/>
                  </a:lnTo>
                  <a:lnTo>
                    <a:pt x="451" y="16"/>
                  </a:lnTo>
                  <a:lnTo>
                    <a:pt x="433" y="10"/>
                  </a:lnTo>
                  <a:lnTo>
                    <a:pt x="397" y="2"/>
                  </a:lnTo>
                  <a:lnTo>
                    <a:pt x="354" y="0"/>
                  </a:lnTo>
                  <a:lnTo>
                    <a:pt x="309" y="5"/>
                  </a:lnTo>
                  <a:lnTo>
                    <a:pt x="270" y="14"/>
                  </a:lnTo>
                  <a:lnTo>
                    <a:pt x="254" y="22"/>
                  </a:lnTo>
                  <a:lnTo>
                    <a:pt x="238" y="30"/>
                  </a:lnTo>
                  <a:lnTo>
                    <a:pt x="226" y="40"/>
                  </a:lnTo>
                  <a:lnTo>
                    <a:pt x="216" y="50"/>
                  </a:lnTo>
                  <a:lnTo>
                    <a:pt x="190" y="46"/>
                  </a:lnTo>
                  <a:lnTo>
                    <a:pt x="163" y="48"/>
                  </a:lnTo>
                  <a:lnTo>
                    <a:pt x="142" y="53"/>
                  </a:lnTo>
                  <a:lnTo>
                    <a:pt x="123" y="59"/>
                  </a:lnTo>
                  <a:lnTo>
                    <a:pt x="107" y="69"/>
                  </a:lnTo>
                  <a:lnTo>
                    <a:pt x="94" y="82"/>
                  </a:lnTo>
                  <a:lnTo>
                    <a:pt x="85" y="94"/>
                  </a:lnTo>
                  <a:lnTo>
                    <a:pt x="78" y="109"/>
                  </a:lnTo>
                  <a:lnTo>
                    <a:pt x="77" y="123"/>
                  </a:lnTo>
                  <a:lnTo>
                    <a:pt x="77" y="131"/>
                  </a:lnTo>
                  <a:lnTo>
                    <a:pt x="78" y="139"/>
                  </a:lnTo>
                  <a:lnTo>
                    <a:pt x="80" y="146"/>
                  </a:lnTo>
                  <a:lnTo>
                    <a:pt x="80" y="147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AAE5FA"/>
                </a:gs>
              </a:gsLst>
              <a:path path="rect">
                <a:fillToRect l="50000" t="50000" r="50000" b="50000"/>
              </a:path>
            </a:gra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Text Box 21"/>
            <p:cNvSpPr txBox="1">
              <a:spLocks noChangeArrowheads="1"/>
            </p:cNvSpPr>
            <p:nvPr/>
          </p:nvSpPr>
          <p:spPr bwMode="auto">
            <a:xfrm>
              <a:off x="2856" y="1468"/>
              <a:ext cx="1104" cy="4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/>
              <a:r>
                <a:rPr lang="fr-FR" sz="800" dirty="0" smtClean="0">
                  <a:solidFill>
                    <a:schemeClr val="tx1"/>
                  </a:solidFill>
                </a:rPr>
                <a:t>TCP/IP</a:t>
              </a:r>
              <a:endParaRPr lang="fr-FR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28" name="AutoShape 15"/>
          <p:cNvSpPr>
            <a:spLocks noChangeArrowheads="1"/>
          </p:cNvSpPr>
          <p:nvPr/>
        </p:nvSpPr>
        <p:spPr bwMode="auto">
          <a:xfrm rot="13404762">
            <a:off x="7834827" y="2595760"/>
            <a:ext cx="485775" cy="468313"/>
          </a:xfrm>
          <a:prstGeom prst="downArrow">
            <a:avLst>
              <a:gd name="adj1" fmla="val 44622"/>
              <a:gd name="adj2" fmla="val 30578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rthographicFront"/>
            <a:lightRig rig="threePt" dir="t">
              <a:rot lat="0" lon="0" rev="0"/>
            </a:lightRig>
          </a:scene3d>
        </p:spPr>
        <p:txBody>
          <a:bodyPr wrap="none" anchor="ctr"/>
          <a:lstStyle/>
          <a:p>
            <a:endParaRPr lang="fr-FR"/>
          </a:p>
        </p:txBody>
      </p:sp>
      <p:pic>
        <p:nvPicPr>
          <p:cNvPr id="3104" name="Picture 32" descr="F:\DIALYSE\Sonde Thermo.jp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07504" y="5805264"/>
            <a:ext cx="912114" cy="761905"/>
          </a:xfrm>
          <a:prstGeom prst="rect">
            <a:avLst/>
          </a:prstGeom>
          <a:noFill/>
        </p:spPr>
      </p:pic>
      <p:cxnSp>
        <p:nvCxnSpPr>
          <p:cNvPr id="30" name="AutoShape 19"/>
          <p:cNvCxnSpPr>
            <a:cxnSpLocks noChangeShapeType="1"/>
          </p:cNvCxnSpPr>
          <p:nvPr/>
        </p:nvCxnSpPr>
        <p:spPr bwMode="auto">
          <a:xfrm>
            <a:off x="2339752" y="2060848"/>
            <a:ext cx="3024336" cy="201622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>
            <a:outerShdw blurRad="50800" dist="50800" dir="5400000" algn="ctr" rotWithShape="0">
              <a:srgbClr val="FF0000"/>
            </a:outerShdw>
          </a:effectLst>
        </p:spPr>
      </p:cxnSp>
      <p:pic>
        <p:nvPicPr>
          <p:cNvPr id="3098" name="Picture 26" descr="F:\DIALYSE\LitDialyse2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339752" y="2852936"/>
            <a:ext cx="2826059" cy="2028061"/>
          </a:xfrm>
          <a:prstGeom prst="rect">
            <a:avLst/>
          </a:prstGeom>
          <a:noFill/>
        </p:spPr>
      </p:pic>
      <p:sp>
        <p:nvSpPr>
          <p:cNvPr id="42" name="Oval 12"/>
          <p:cNvSpPr>
            <a:spLocks noChangeArrowheads="1"/>
          </p:cNvSpPr>
          <p:nvPr/>
        </p:nvSpPr>
        <p:spPr bwMode="auto">
          <a:xfrm flipH="1">
            <a:off x="2123728" y="6165428"/>
            <a:ext cx="215900" cy="215900"/>
          </a:xfrm>
          <a:prstGeom prst="ellipse">
            <a:avLst/>
          </a:prstGeom>
          <a:solidFill>
            <a:srgbClr val="FF0000"/>
          </a:solidFill>
          <a:ln w="25560" cap="sq">
            <a:solidFill>
              <a:srgbClr val="385D8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7" name="Text Box 21"/>
          <p:cNvSpPr txBox="1">
            <a:spLocks noChangeArrowheads="1"/>
          </p:cNvSpPr>
          <p:nvPr/>
        </p:nvSpPr>
        <p:spPr bwMode="auto">
          <a:xfrm rot="1421133">
            <a:off x="8204168" y="1245287"/>
            <a:ext cx="6969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/>
            <a:r>
              <a:rPr lang="fr-FR" sz="800" dirty="0" smtClean="0">
                <a:solidFill>
                  <a:schemeClr val="tx1"/>
                </a:solidFill>
              </a:rPr>
              <a:t>Alarme Centrale </a:t>
            </a:r>
            <a:r>
              <a:rPr lang="fr-FR" sz="800" dirty="0" err="1" smtClean="0">
                <a:solidFill>
                  <a:schemeClr val="tx1"/>
                </a:solidFill>
              </a:rPr>
              <a:t>Fresenius</a:t>
            </a: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35" name="AutoShape 14"/>
          <p:cNvSpPr>
            <a:spLocks noChangeArrowheads="1"/>
          </p:cNvSpPr>
          <p:nvPr/>
        </p:nvSpPr>
        <p:spPr bwMode="auto">
          <a:xfrm>
            <a:off x="5364088" y="5229200"/>
            <a:ext cx="3312368" cy="1368152"/>
          </a:xfrm>
          <a:prstGeom prst="roundRect">
            <a:avLst>
              <a:gd name="adj" fmla="val 16667"/>
            </a:avLst>
          </a:prstGeom>
          <a:solidFill>
            <a:srgbClr val="00339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fr-FR" sz="1400" b="1" u="sng" dirty="0" smtClean="0">
                <a:solidFill>
                  <a:schemeClr val="bg1"/>
                </a:solidFill>
              </a:rPr>
              <a:t>Résultats</a:t>
            </a:r>
            <a:endParaRPr lang="fr-FR" sz="1400" u="sng" dirty="0" smtClean="0">
              <a:solidFill>
                <a:schemeClr val="bg1"/>
              </a:solidFill>
              <a:sym typeface="Wingdings" pitchFamily="2" charset="2"/>
            </a:endParaRPr>
          </a:p>
          <a:p>
            <a:r>
              <a:rPr lang="fr-FR" sz="1400" dirty="0" smtClean="0">
                <a:sym typeface="Wingdings" pitchFamily="2" charset="2"/>
              </a:rPr>
              <a:t> </a:t>
            </a:r>
            <a:r>
              <a:rPr lang="fr-FR" sz="1400" dirty="0" smtClean="0">
                <a:sym typeface="Wingdings" pitchFamily="2" charset="2"/>
              </a:rPr>
              <a:t>Offrir </a:t>
            </a:r>
            <a:r>
              <a:rPr lang="fr-FR" sz="1400" dirty="0" smtClean="0">
                <a:sym typeface="Wingdings" pitchFamily="2" charset="2"/>
              </a:rPr>
              <a:t>de la réactivité et </a:t>
            </a:r>
            <a:endParaRPr lang="fr-FR" sz="1400" dirty="0" smtClean="0">
              <a:sym typeface="Wingdings" pitchFamily="2" charset="2"/>
            </a:endParaRPr>
          </a:p>
          <a:p>
            <a:r>
              <a:rPr lang="fr-FR" sz="1400" dirty="0" smtClean="0">
                <a:sym typeface="Wingdings" pitchFamily="2" charset="2"/>
              </a:rPr>
              <a:t>de </a:t>
            </a:r>
            <a:r>
              <a:rPr lang="fr-FR" sz="1400" dirty="0" smtClean="0">
                <a:sym typeface="Wingdings" pitchFamily="2" charset="2"/>
              </a:rPr>
              <a:t>l'agilité </a:t>
            </a:r>
            <a:r>
              <a:rPr lang="fr-FR" sz="1400" dirty="0" smtClean="0">
                <a:sym typeface="Wingdings" pitchFamily="2" charset="2"/>
              </a:rPr>
              <a:t>à </a:t>
            </a:r>
            <a:r>
              <a:rPr lang="fr-FR" sz="1400" dirty="0" smtClean="0">
                <a:solidFill>
                  <a:schemeClr val="bg1"/>
                </a:solidFill>
                <a:sym typeface="Wingdings" pitchFamily="2" charset="2"/>
              </a:rPr>
              <a:t>l’équipe Bio Médicale</a:t>
            </a:r>
          </a:p>
          <a:p>
            <a:r>
              <a:rPr lang="fr-FR" sz="1400" dirty="0" smtClean="0">
                <a:sym typeface="Wingdings" pitchFamily="2" charset="2"/>
              </a:rPr>
              <a:t> </a:t>
            </a:r>
            <a:r>
              <a:rPr lang="fr-FR" sz="1400" dirty="0" smtClean="0">
                <a:sym typeface="Wingdings" pitchFamily="2" charset="2"/>
              </a:rPr>
              <a:t>Evoluer </a:t>
            </a:r>
            <a:r>
              <a:rPr lang="fr-FR" sz="1400" dirty="0" smtClean="0">
                <a:sym typeface="Wingdings" pitchFamily="2" charset="2"/>
              </a:rPr>
              <a:t>dans le temps selon </a:t>
            </a:r>
            <a:endParaRPr lang="fr-FR" sz="1400" dirty="0" smtClean="0">
              <a:sym typeface="Wingdings" pitchFamily="2" charset="2"/>
            </a:endParaRPr>
          </a:p>
          <a:p>
            <a:r>
              <a:rPr lang="fr-FR" sz="1400" dirty="0" smtClean="0">
                <a:sym typeface="Wingdings" pitchFamily="2" charset="2"/>
              </a:rPr>
              <a:t>les </a:t>
            </a:r>
            <a:r>
              <a:rPr lang="fr-FR" sz="1400" dirty="0" smtClean="0">
                <a:sym typeface="Wingdings" pitchFamily="2" charset="2"/>
              </a:rPr>
              <a:t>nouveaux équipements </a:t>
            </a:r>
            <a:endParaRPr lang="fr-FR" sz="1400" dirty="0" smtClean="0">
              <a:sym typeface="Wingdings" pitchFamily="2" charset="2"/>
            </a:endParaRPr>
          </a:p>
          <a:p>
            <a:r>
              <a:rPr lang="fr-FR" sz="1400" dirty="0" smtClean="0">
                <a:sym typeface="Wingdings" pitchFamily="2" charset="2"/>
              </a:rPr>
              <a:t>ou </a:t>
            </a:r>
            <a:r>
              <a:rPr lang="fr-FR" sz="1400" dirty="0" smtClean="0">
                <a:sym typeface="Wingdings" pitchFamily="2" charset="2"/>
              </a:rPr>
              <a:t>organisation mis en </a:t>
            </a:r>
            <a:r>
              <a:rPr lang="fr-FR" sz="1400" dirty="0" smtClean="0">
                <a:sym typeface="Wingdings" pitchFamily="2" charset="2"/>
              </a:rPr>
              <a:t>place</a:t>
            </a:r>
            <a:endParaRPr lang="fr-FR" sz="1400" dirty="0" smtClean="0">
              <a:solidFill>
                <a:schemeClr val="bg1"/>
              </a:solidFill>
              <a:sym typeface="Wingdings" pitchFamily="2" charset="2"/>
            </a:endParaRPr>
          </a:p>
        </p:txBody>
      </p:sp>
      <p:sp>
        <p:nvSpPr>
          <p:cNvPr id="46" name="AutoShape 8"/>
          <p:cNvSpPr>
            <a:spLocks noChangeArrowheads="1"/>
          </p:cNvSpPr>
          <p:nvPr/>
        </p:nvSpPr>
        <p:spPr bwMode="auto">
          <a:xfrm>
            <a:off x="251520" y="1001415"/>
            <a:ext cx="4824536" cy="915417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9525">
            <a:noFill/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fr-FR" sz="1400" b="1" u="sng" dirty="0">
                <a:solidFill>
                  <a:schemeClr val="bg1"/>
                </a:solidFill>
              </a:rPr>
              <a:t>Objectifs</a:t>
            </a:r>
          </a:p>
          <a:p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 smtClean="0">
                <a:solidFill>
                  <a:schemeClr val="bg1"/>
                </a:solidFill>
              </a:rPr>
              <a:t>      	                          </a:t>
            </a:r>
            <a:r>
              <a:rPr lang="fr-FR" sz="1400" dirty="0" smtClean="0"/>
              <a:t>Informer </a:t>
            </a:r>
            <a:r>
              <a:rPr lang="fr-FR" sz="1400" dirty="0" smtClean="0"/>
              <a:t>en temps réel et en mobilité  </a:t>
            </a:r>
            <a:endParaRPr lang="fr-FR" sz="1400" dirty="0" smtClean="0"/>
          </a:p>
          <a:p>
            <a:r>
              <a:rPr lang="fr-FR" sz="1400" dirty="0" smtClean="0"/>
              <a:t>                                   d'une </a:t>
            </a:r>
            <a:r>
              <a:rPr lang="fr-FR" sz="1400" dirty="0" smtClean="0"/>
              <a:t>anomalie technique survenant </a:t>
            </a:r>
            <a:endParaRPr lang="fr-FR" sz="1400" dirty="0" smtClean="0"/>
          </a:p>
          <a:p>
            <a:r>
              <a:rPr lang="fr-FR" sz="1400" dirty="0" smtClean="0"/>
              <a:t>                                   dans </a:t>
            </a:r>
            <a:r>
              <a:rPr lang="fr-FR" sz="1400" dirty="0" smtClean="0"/>
              <a:t>un centre de dialyse</a:t>
            </a:r>
            <a:endParaRPr lang="fr-FR" sz="1400" dirty="0">
              <a:solidFill>
                <a:schemeClr val="bg1"/>
              </a:solidFill>
              <a:sym typeface="Wingdings" pitchFamily="2" charset="2"/>
            </a:endParaRPr>
          </a:p>
        </p:txBody>
      </p:sp>
      <p:pic>
        <p:nvPicPr>
          <p:cNvPr id="1026" name="Picture 2" descr="F:\DIALYSE\MailNephrocall.jpg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716330" y="4941168"/>
            <a:ext cx="1392174" cy="754380"/>
          </a:xfrm>
          <a:prstGeom prst="rect">
            <a:avLst/>
          </a:prstGeom>
          <a:noFill/>
        </p:spPr>
      </p:pic>
      <p:pic>
        <p:nvPicPr>
          <p:cNvPr id="3100" name="Picture 28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27584" y="1239729"/>
            <a:ext cx="1236190" cy="1037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" name="Picture 4" descr="microstis"/>
          <p:cNvPicPr>
            <a:picLocks noChangeAspect="1" noChangeArrowheads="1"/>
          </p:cNvPicPr>
          <p:nvPr/>
        </p:nvPicPr>
        <p:blipFill>
          <a:blip r:embed="rId15" cstate="print">
            <a:lum bright="8000" contrast="-2000"/>
          </a:blip>
          <a:srcRect/>
          <a:stretch>
            <a:fillRect/>
          </a:stretch>
        </p:blipFill>
        <p:spPr bwMode="auto">
          <a:xfrm>
            <a:off x="6838483" y="3645024"/>
            <a:ext cx="1189901" cy="812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AutoShape 15"/>
          <p:cNvSpPr>
            <a:spLocks noChangeArrowheads="1"/>
          </p:cNvSpPr>
          <p:nvPr/>
        </p:nvSpPr>
        <p:spPr bwMode="auto">
          <a:xfrm rot="18367753">
            <a:off x="7813202" y="4609202"/>
            <a:ext cx="485775" cy="468313"/>
          </a:xfrm>
          <a:prstGeom prst="downArrow">
            <a:avLst>
              <a:gd name="adj1" fmla="val 44622"/>
              <a:gd name="adj2" fmla="val 30578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rthographicFront"/>
            <a:lightRig rig="threePt" dir="t">
              <a:rot lat="0" lon="0" rev="0"/>
            </a:lightRig>
          </a:scene3d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52135" y="44627"/>
            <a:ext cx="1222654" cy="81510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07504" y="-243408"/>
            <a:ext cx="8229600" cy="11430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4000" b="1" dirty="0" err="1" smtClean="0">
                <a:solidFill>
                  <a:srgbClr val="000000"/>
                </a:solidFill>
                <a:latin typeface="Calibri" pitchFamily="32" charset="0"/>
              </a:rPr>
              <a:t>NephroCall</a:t>
            </a:r>
            <a:r>
              <a:rPr lang="fr-FR" sz="4000" dirty="0" smtClean="0">
                <a:solidFill>
                  <a:srgbClr val="000000"/>
                </a:solidFill>
                <a:latin typeface="Calibri" pitchFamily="32" charset="0"/>
              </a:rPr>
              <a:t> </a:t>
            </a:r>
            <a:r>
              <a:rPr lang="fr-FR" sz="2400" i="1" dirty="0" smtClean="0">
                <a:solidFill>
                  <a:srgbClr val="0070C0"/>
                </a:solidFill>
                <a:latin typeface="Calibri" pitchFamily="32" charset="0"/>
              </a:rPr>
              <a:t>by</a:t>
            </a:r>
            <a:endParaRPr lang="fr-FR" sz="3600" dirty="0">
              <a:solidFill>
                <a:srgbClr val="0070C0"/>
              </a:solidFill>
              <a:latin typeface="Calibri" pitchFamily="32" charset="0"/>
            </a:endParaRP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1273220" y="692696"/>
            <a:ext cx="6467132" cy="586957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1400" b="1" dirty="0" smtClean="0">
                <a:solidFill>
                  <a:srgbClr val="000000"/>
                </a:solidFill>
              </a:rPr>
              <a:t>Package de Supervision d'équipements hétérogènes de Centre de Dialyse</a:t>
            </a:r>
            <a:endParaRPr lang="fr-FR" sz="1400" b="1" dirty="0">
              <a:solidFill>
                <a:srgbClr val="000000"/>
              </a:solidFill>
            </a:endParaRP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b="1" dirty="0">
                <a:solidFill>
                  <a:srgbClr val="000000"/>
                </a:solidFill>
              </a:rPr>
              <a:t>    </a:t>
            </a:r>
          </a:p>
        </p:txBody>
      </p:sp>
      <p:sp>
        <p:nvSpPr>
          <p:cNvPr id="37" name="Rectangle 3"/>
          <p:cNvSpPr>
            <a:spLocks noChangeArrowheads="1"/>
          </p:cNvSpPr>
          <p:nvPr/>
        </p:nvSpPr>
        <p:spPr bwMode="auto">
          <a:xfrm>
            <a:off x="0" y="6604000"/>
            <a:ext cx="9144000" cy="2444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000" dirty="0" err="1" smtClean="0">
                <a:solidFill>
                  <a:schemeClr val="tx1"/>
                </a:solidFill>
              </a:rPr>
              <a:t>SafeFull</a:t>
            </a:r>
            <a:r>
              <a:rPr lang="fr-FR" sz="1000" dirty="0" smtClean="0">
                <a:solidFill>
                  <a:schemeClr val="tx1"/>
                </a:solidFill>
              </a:rPr>
              <a:t> </a:t>
            </a:r>
            <a:r>
              <a:rPr lang="fr-FR" sz="1000" dirty="0">
                <a:solidFill>
                  <a:schemeClr val="tx1"/>
                </a:solidFill>
              </a:rPr>
              <a:t>Systems 	</a:t>
            </a:r>
            <a:r>
              <a:rPr lang="en-US" sz="1000" dirty="0" err="1">
                <a:solidFill>
                  <a:schemeClr val="tx1"/>
                </a:solidFill>
              </a:rPr>
              <a:t>Infoline</a:t>
            </a:r>
            <a:r>
              <a:rPr lang="en-US" sz="1000" dirty="0">
                <a:solidFill>
                  <a:schemeClr val="tx1"/>
                </a:solidFill>
              </a:rPr>
              <a:t> : </a:t>
            </a:r>
            <a:r>
              <a:rPr lang="en-US" sz="1000" dirty="0" smtClean="0">
                <a:solidFill>
                  <a:schemeClr val="tx1"/>
                </a:solidFill>
              </a:rPr>
              <a:t>01 53 90 40 95</a:t>
            </a:r>
            <a:r>
              <a:rPr lang="en-US" sz="1000" dirty="0">
                <a:solidFill>
                  <a:schemeClr val="tx1"/>
                </a:solidFill>
              </a:rPr>
              <a:t>	</a:t>
            </a:r>
            <a:r>
              <a:rPr lang="en-US" sz="1000" dirty="0" smtClean="0">
                <a:solidFill>
                  <a:schemeClr val="tx1"/>
                </a:solidFill>
              </a:rPr>
              <a:t>marc.dequecker@safefull.com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77925" y="2320925"/>
            <a:ext cx="858838" cy="317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9" name="AutoShape 7"/>
          <p:cNvCxnSpPr>
            <a:cxnSpLocks noChangeShapeType="1"/>
          </p:cNvCxnSpPr>
          <p:nvPr/>
        </p:nvCxnSpPr>
        <p:spPr bwMode="auto">
          <a:xfrm rot="10800000">
            <a:off x="1608138" y="5801196"/>
            <a:ext cx="1733550" cy="292100"/>
          </a:xfrm>
          <a:prstGeom prst="bentConnector2">
            <a:avLst/>
          </a:prstGeom>
          <a:noFill/>
          <a:ln w="76200">
            <a:solidFill>
              <a:schemeClr val="accent2">
                <a:lumMod val="75000"/>
              </a:schemeClr>
            </a:solidFill>
            <a:miter lim="800000"/>
            <a:headEnd type="triangle" w="med" len="med"/>
            <a:tailEnd/>
          </a:ln>
        </p:spPr>
      </p:cxnSp>
      <p:cxnSp>
        <p:nvCxnSpPr>
          <p:cNvPr id="45" name="AutoShape 8"/>
          <p:cNvCxnSpPr>
            <a:cxnSpLocks noChangeShapeType="1"/>
          </p:cNvCxnSpPr>
          <p:nvPr/>
        </p:nvCxnSpPr>
        <p:spPr bwMode="auto">
          <a:xfrm rot="16200000">
            <a:off x="2325688" y="1273175"/>
            <a:ext cx="330200" cy="1765300"/>
          </a:xfrm>
          <a:prstGeom prst="bentConnector2">
            <a:avLst/>
          </a:prstGeom>
          <a:noFill/>
          <a:ln w="76200">
            <a:solidFill>
              <a:srgbClr val="FF0000"/>
            </a:solidFill>
            <a:miter lim="800000"/>
            <a:headEnd/>
            <a:tailEnd type="triangle" w="med" len="med"/>
          </a:ln>
        </p:spPr>
      </p:cxnSp>
      <p:sp>
        <p:nvSpPr>
          <p:cNvPr id="48" name="Line 9"/>
          <p:cNvSpPr>
            <a:spLocks noChangeShapeType="1"/>
          </p:cNvSpPr>
          <p:nvPr/>
        </p:nvSpPr>
        <p:spPr bwMode="auto">
          <a:xfrm>
            <a:off x="2020888" y="4149080"/>
            <a:ext cx="1271587" cy="0"/>
          </a:xfrm>
          <a:prstGeom prst="lin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fr-FR"/>
          </a:p>
        </p:txBody>
      </p:sp>
      <p:sp>
        <p:nvSpPr>
          <p:cNvPr id="50" name="Rectangle 4"/>
          <p:cNvSpPr>
            <a:spLocks noChangeArrowheads="1"/>
          </p:cNvSpPr>
          <p:nvPr/>
        </p:nvSpPr>
        <p:spPr bwMode="auto">
          <a:xfrm>
            <a:off x="2915816" y="908720"/>
            <a:ext cx="5818187" cy="263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>
              <a:buFontTx/>
              <a:buChar char="•"/>
              <a:defRPr/>
            </a:pPr>
            <a:r>
              <a:rPr lang="fr-FR" sz="1100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Defaut</a:t>
            </a:r>
            <a:r>
              <a:rPr lang="fr-FR" sz="1100" i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Centrale </a:t>
            </a:r>
            <a:r>
              <a:rPr lang="fr-FR" sz="11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Traitement Eau </a:t>
            </a:r>
            <a:r>
              <a:rPr lang="fr-FR" sz="1100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Fresenius</a:t>
            </a:r>
            <a:endParaRPr lang="fr-FR" sz="1100" i="1" dirty="0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cs typeface="+mn-cs"/>
            </a:endParaRPr>
          </a:p>
          <a:p>
            <a:pPr lvl="1">
              <a:buFontTx/>
              <a:buChar char="•"/>
              <a:defRPr/>
            </a:pPr>
            <a:r>
              <a:rPr lang="fr-FR" sz="1100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Defaut</a:t>
            </a:r>
            <a:r>
              <a:rPr lang="fr-FR" sz="11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</a:t>
            </a:r>
            <a:r>
              <a:rPr lang="fr-FR" sz="11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Disjoncteur Ascenseur</a:t>
            </a:r>
          </a:p>
          <a:p>
            <a:pPr lvl="1">
              <a:buFontTx/>
              <a:buChar char="•"/>
              <a:defRPr/>
            </a:pPr>
            <a:r>
              <a:rPr lang="fr-FR" sz="1100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Defaut</a:t>
            </a:r>
            <a:r>
              <a:rPr lang="fr-FR" sz="11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Disjoncteur Chaufferie</a:t>
            </a:r>
          </a:p>
          <a:p>
            <a:pPr lvl="1">
              <a:buFontTx/>
              <a:buChar char="•"/>
              <a:defRPr/>
            </a:pPr>
            <a:r>
              <a:rPr lang="fr-FR" sz="1100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Defaut</a:t>
            </a:r>
            <a:r>
              <a:rPr lang="fr-FR" sz="11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Disjoncteur CTA</a:t>
            </a:r>
          </a:p>
          <a:p>
            <a:pPr lvl="1">
              <a:buFontTx/>
              <a:buChar char="•"/>
              <a:defRPr/>
            </a:pPr>
            <a:r>
              <a:rPr lang="fr-FR" sz="1100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Defaut</a:t>
            </a:r>
            <a:r>
              <a:rPr lang="fr-FR" sz="11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Inverseur Normal Secours</a:t>
            </a:r>
          </a:p>
          <a:p>
            <a:pPr lvl="1">
              <a:buFontTx/>
              <a:buChar char="•"/>
              <a:defRPr/>
            </a:pPr>
            <a:r>
              <a:rPr lang="fr-FR" sz="1100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Defaut</a:t>
            </a:r>
            <a:r>
              <a:rPr lang="fr-FR" sz="11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Secteur Secours</a:t>
            </a:r>
          </a:p>
          <a:p>
            <a:pPr lvl="1">
              <a:buFontTx/>
              <a:buChar char="•"/>
              <a:defRPr/>
            </a:pPr>
            <a:r>
              <a:rPr lang="fr-FR" sz="1100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Defaut</a:t>
            </a:r>
            <a:r>
              <a:rPr lang="fr-FR" sz="11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Secteur </a:t>
            </a:r>
            <a:r>
              <a:rPr lang="fr-FR" sz="11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Normal</a:t>
            </a:r>
            <a:endParaRPr lang="fr-FR" sz="1100" i="1" dirty="0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cs typeface="+mn-cs"/>
            </a:endParaRPr>
          </a:p>
          <a:p>
            <a:pPr lvl="1">
              <a:buFontTx/>
              <a:buChar char="•"/>
              <a:defRPr/>
            </a:pPr>
            <a:r>
              <a:rPr lang="fr-FR" sz="11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Groupe Electrogène Défaut Groupe</a:t>
            </a:r>
          </a:p>
          <a:p>
            <a:pPr lvl="1">
              <a:buFontTx/>
              <a:buChar char="•"/>
              <a:defRPr/>
            </a:pPr>
            <a:r>
              <a:rPr lang="fr-FR" sz="11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Groupe Electrogène Niveau Bas Fuel</a:t>
            </a:r>
          </a:p>
          <a:p>
            <a:pPr lvl="1">
              <a:buFontTx/>
              <a:buChar char="•"/>
              <a:defRPr/>
            </a:pPr>
            <a:r>
              <a:rPr lang="fr-FR" sz="11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Niveau Haut Fosse Pompe relevage Traitement Eau</a:t>
            </a:r>
          </a:p>
          <a:p>
            <a:pPr lvl="1">
              <a:buFontTx/>
              <a:buChar char="•"/>
              <a:defRPr/>
            </a:pPr>
            <a:r>
              <a:rPr lang="fr-FR" sz="1100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Defaut</a:t>
            </a:r>
            <a:r>
              <a:rPr lang="fr-FR" sz="11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Pompes Relevage Traitement Eau</a:t>
            </a:r>
          </a:p>
          <a:p>
            <a:pPr lvl="1">
              <a:buFontTx/>
              <a:buChar char="•"/>
              <a:defRPr/>
            </a:pPr>
            <a:r>
              <a:rPr lang="fr-FR" sz="11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Niveau Haut Pompe Relevage EP</a:t>
            </a:r>
          </a:p>
          <a:p>
            <a:pPr lvl="1">
              <a:buFontTx/>
              <a:buChar char="•"/>
              <a:defRPr/>
            </a:pPr>
            <a:r>
              <a:rPr lang="fr-FR" sz="11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Non Mise en service Auto Centrale Intrusion</a:t>
            </a:r>
          </a:p>
          <a:p>
            <a:pPr lvl="1">
              <a:buFontTx/>
              <a:buChar char="•"/>
              <a:defRPr/>
            </a:pPr>
            <a:r>
              <a:rPr lang="fr-FR" sz="1100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Defaut</a:t>
            </a:r>
            <a:r>
              <a:rPr lang="fr-FR" sz="11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Centrale Intrusion</a:t>
            </a:r>
          </a:p>
          <a:p>
            <a:pPr lvl="1">
              <a:buFontTx/>
              <a:buChar char="•"/>
              <a:defRPr/>
            </a:pPr>
            <a:r>
              <a:rPr lang="fr-FR" sz="1100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Derangement</a:t>
            </a:r>
            <a:r>
              <a:rPr lang="fr-FR" sz="11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Centrale </a:t>
            </a:r>
            <a:r>
              <a:rPr lang="fr-FR" sz="11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Incendie</a:t>
            </a:r>
            <a:endParaRPr lang="fr-FR" sz="1100" i="1" dirty="0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cs typeface="+mn-cs"/>
            </a:endParaRPr>
          </a:p>
        </p:txBody>
      </p:sp>
      <p:sp>
        <p:nvSpPr>
          <p:cNvPr id="52" name="Rectangle 5"/>
          <p:cNvSpPr>
            <a:spLocks noChangeArrowheads="1"/>
          </p:cNvSpPr>
          <p:nvPr/>
        </p:nvSpPr>
        <p:spPr bwMode="auto">
          <a:xfrm>
            <a:off x="2915816" y="3645024"/>
            <a:ext cx="6048672" cy="3185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>
              <a:buFontTx/>
              <a:buChar char="•"/>
              <a:defRPr/>
            </a:pP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Diffusion scénarisée vers SMS Gsm , Mail ( extension vers DECT internes si 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infrastructure 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et protocole disponibles)</a:t>
            </a:r>
          </a:p>
          <a:p>
            <a:pPr lvl="1">
              <a:buFontTx/>
              <a:buChar char="•"/>
              <a:defRPr/>
            </a:pP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Gestion 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de la sécurité positive avec </a:t>
            </a:r>
            <a:r>
              <a:rPr lang="fr-FR" sz="1100" i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auto-test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paramétrable 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( </a:t>
            </a:r>
            <a:r>
              <a:rPr lang="fr-FR" sz="1100" i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watch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Dog) </a:t>
            </a:r>
          </a:p>
          <a:p>
            <a:pPr lvl="1">
              <a:defRPr/>
            </a:pP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	du 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bon 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fonctionnement 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de l'infrastructure d'acquisition comme celle de diffusion.</a:t>
            </a:r>
          </a:p>
          <a:p>
            <a:pPr lvl="1">
              <a:buFontTx/>
              <a:buChar char="•"/>
              <a:defRPr/>
            </a:pP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Gestion 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des principaux équipements du site via Entrées digitales ou analogiques( jusqu'à 32 alarmes primaires via extension)</a:t>
            </a:r>
          </a:p>
          <a:p>
            <a:pPr lvl="1">
              <a:buFontTx/>
              <a:buChar char="•"/>
              <a:defRPr/>
            </a:pP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Possibilité 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de couplage à des dispositifs appels malades, centrale intrusion, détection Incendie par zone ( selon extension en mode série, </a:t>
            </a:r>
            <a:r>
              <a:rPr lang="fr-FR" sz="1100" i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espaa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, </a:t>
            </a:r>
            <a:r>
              <a:rPr lang="fr-FR" sz="1100" i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Opc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)</a:t>
            </a:r>
          </a:p>
          <a:p>
            <a:pPr lvl="1">
              <a:buFontTx/>
              <a:buChar char="•"/>
              <a:defRPr/>
            </a:pP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Possibilité 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de 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télé-piloter 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des Sortie de type relais ( 8 maximum)</a:t>
            </a:r>
          </a:p>
          <a:p>
            <a:pPr lvl="1">
              <a:buFontTx/>
              <a:buChar char="•"/>
              <a:defRPr/>
            </a:pP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Liste 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des destinataires non limitée</a:t>
            </a:r>
          </a:p>
          <a:p>
            <a:pPr lvl="1">
              <a:buFontTx/>
              <a:buChar char="•"/>
              <a:defRPr/>
            </a:pP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Gestion 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des plages horaires pour diffusion différenciée jour/nuit, Semaine/</a:t>
            </a:r>
            <a:r>
              <a:rPr lang="fr-FR" sz="1100" i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Week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End, Exception</a:t>
            </a:r>
            <a:r>
              <a:rPr lang="fr-FR" sz="11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.</a:t>
            </a:r>
          </a:p>
          <a:p>
            <a:pPr lvl="1">
              <a:defRPr/>
            </a:pPr>
            <a:endParaRPr lang="fr-FR" sz="1100" i="1" dirty="0" smtClean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cs typeface="+mn-cs"/>
            </a:endParaRPr>
          </a:p>
          <a:p>
            <a:pPr lvl="1">
              <a:buFontTx/>
              <a:buChar char="•"/>
              <a:defRPr/>
            </a:pPr>
            <a:r>
              <a:rPr lang="fr-FR" sz="1100" i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Historique des alarmes stockées et accessibles via requête </a:t>
            </a:r>
            <a:r>
              <a:rPr lang="fr-FR" sz="1100" i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  <a:p>
            <a:pPr lvl="1">
              <a:buFontTx/>
              <a:buChar char="•"/>
              <a:defRPr/>
            </a:pPr>
            <a:r>
              <a:rPr lang="fr-FR" sz="1100" i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Assistance au paramétrage </a:t>
            </a:r>
            <a:endParaRPr lang="fr-FR" sz="1100" i="1" dirty="0" smtClean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cs typeface="+mn-cs"/>
            </a:endParaRPr>
          </a:p>
          <a:p>
            <a:pPr lvl="1">
              <a:buFontTx/>
              <a:buChar char="•"/>
              <a:defRPr/>
            </a:pPr>
            <a:r>
              <a:rPr lang="fr-FR" sz="1100" i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Fourniture complète </a:t>
            </a:r>
            <a:r>
              <a:rPr lang="fr-FR" sz="1100" i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du package </a:t>
            </a:r>
            <a:r>
              <a:rPr lang="fr-FR" sz="1100" i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télé paramétrable </a:t>
            </a:r>
            <a:r>
              <a:rPr lang="fr-FR" sz="1100" i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: serveur </a:t>
            </a:r>
            <a:r>
              <a:rPr lang="fr-FR" sz="1100" i="1" dirty="0" err="1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Nephro</a:t>
            </a:r>
            <a:r>
              <a:rPr lang="fr-FR" sz="1100" i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Call, </a:t>
            </a:r>
            <a:r>
              <a:rPr lang="fr-FR" sz="1100" i="1" dirty="0" err="1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BoitierIP</a:t>
            </a:r>
            <a:r>
              <a:rPr lang="fr-FR" sz="1100" i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acquisition  </a:t>
            </a:r>
            <a:r>
              <a:rPr lang="fr-FR" sz="1100" i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 Contacts, </a:t>
            </a:r>
            <a:r>
              <a:rPr lang="fr-FR" sz="1100" i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passerelle GSM</a:t>
            </a:r>
          </a:p>
          <a:p>
            <a:pPr lvl="1">
              <a:buFontTx/>
              <a:buChar char="•"/>
              <a:defRPr/>
            </a:pPr>
            <a:endParaRPr lang="fr-FR" sz="1400" i="1" dirty="0">
              <a:effectLst>
                <a:outerShdw blurRad="38100" dist="38100" dir="2700000" algn="tl">
                  <a:srgbClr val="C0C0C0"/>
                </a:outerShdw>
              </a:effectLst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Thèm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hème Office">
      <a:majorFont>
        <a:latin typeface="Calibri"/>
        <a:ea typeface="Microsoft YaHei"/>
        <a:cs typeface="Microsoft YaHei"/>
      </a:majorFont>
      <a:minorFont>
        <a:latin typeface="Calibr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hème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42452</TotalTime>
  <Words>190</Words>
  <Application>Microsoft Office PowerPoint</Application>
  <PresentationFormat>Affichage à l'écran (4:3)</PresentationFormat>
  <Paragraphs>65</Paragraphs>
  <Slides>2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Thème Office</vt:lpstr>
      <vt:lpstr>Diapositive 1</vt:lpstr>
      <vt:lpstr>Diapositive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MobeeWeb</dc:title>
  <dc:creator>dcr</dc:creator>
  <cp:lastModifiedBy>SF</cp:lastModifiedBy>
  <cp:revision>88</cp:revision>
  <cp:lastPrinted>1601-01-01T00:00:00Z</cp:lastPrinted>
  <dcterms:created xsi:type="dcterms:W3CDTF">2013-01-28T14:06:43Z</dcterms:created>
  <dcterms:modified xsi:type="dcterms:W3CDTF">2023-05-23T14:01:48Z</dcterms:modified>
</cp:coreProperties>
</file>